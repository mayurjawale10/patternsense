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7F77DD">
              <a:alpha val="18000"/>
            </a:srgbClr>
          </a:solidFill>
          <a:ln w="12700">
            <a:solidFill>
              <a:srgbClr val="7F77D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1D9E75">
              <a:alpha val="12000"/>
            </a:srgbClr>
          </a:solidFill>
          <a:ln w="12700">
            <a:solidFill>
              <a:srgbClr val="1D9E7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1645920" cy="274320"/>
          </a:xfrm>
          <a:prstGeom prst="rect">
            <a:avLst/>
          </a:prstGeom>
          <a:solidFill>
            <a:srgbClr val="7F77DD">
              <a:alpha val="30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15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PatternSense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AI-Powered DSA Learning OS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9992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practice tracker — a system that understands how your brain thinks and fixes 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480560"/>
            <a:ext cx="1920240" cy="292608"/>
          </a:xfrm>
          <a:prstGeom prst="rect">
            <a:avLst/>
          </a:prstGeom>
          <a:solidFill>
            <a:srgbClr val="7F77DD">
              <a:alpha val="25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480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Node.js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4480560"/>
            <a:ext cx="1920240" cy="292608"/>
          </a:xfrm>
          <a:prstGeom prst="rect">
            <a:avLst/>
          </a:prstGeom>
          <a:solidFill>
            <a:srgbClr val="1D9E75">
              <a:alpha val="25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4480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Gemini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4480560"/>
            <a:ext cx="1920240" cy="292608"/>
          </a:xfrm>
          <a:prstGeom prst="rect">
            <a:avLst/>
          </a:prstGeom>
          <a:solidFill>
            <a:srgbClr val="EF9F27">
              <a:alpha val="25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4480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D3.js Visualiser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4480560"/>
            <a:ext cx="1920240" cy="292608"/>
          </a:xfrm>
          <a:prstGeom prst="rect">
            <a:avLst/>
          </a:prstGeom>
          <a:solidFill>
            <a:srgbClr val="D85A30">
              <a:alpha val="25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4480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broken with DSA learning today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2A2A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34440"/>
            <a:ext cx="4114800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34440"/>
            <a:ext cx="54864" cy="150876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716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feedback on thinking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0992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tell you pass or fail. They never explain why you blanked, or what mental trigger you missed.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234440"/>
            <a:ext cx="4114800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234440"/>
            <a:ext cx="54864" cy="150876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3716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Memorisation over understanding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70992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solve 200 LeetCode problems and still freeze in interviews because they memorised solutions, not patterns.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971800"/>
            <a:ext cx="4114800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971800"/>
            <a:ext cx="54864" cy="150876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1089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blind spot detection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44728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know which patterns you consistently misidentify until an interviewer points it out — too late.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971800"/>
            <a:ext cx="4114800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971800"/>
            <a:ext cx="54864" cy="150876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31089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Generic roadmaps ignore your gaps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344728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guide says 'do Arrays, then Trees, then DP.' None of them know what you already know or where you specifically struggle.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&amp; Their Gaps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out there and why it's not enough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2A2A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34440"/>
            <a:ext cx="4114800" cy="16002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34440"/>
            <a:ext cx="54864" cy="160020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LeetCode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0992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Grades output only (pass/fail)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195681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Zero insight into your thinking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20370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pattern detection or hints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45059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Generic difficulty — ignores your history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1234440"/>
            <a:ext cx="4114800" cy="16002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234440"/>
            <a:ext cx="54864" cy="16002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NeetCode / Striver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170992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Static roadmaps, not personalised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83480" y="195681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Passive video learning only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83480" y="220370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mistake tracking or AI feedback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83480" y="245059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Can't generate new questions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017520"/>
            <a:ext cx="4114800" cy="16002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017520"/>
            <a:ext cx="54864" cy="1600200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AlgoMonster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" y="349300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Closest to pattern-based learning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" y="373989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visualiser for your own code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4360" y="398678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'why did I blank?' diagnosis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" y="423367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Paid, no social/community features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0600" y="3017520"/>
            <a:ext cx="4114800" cy="16002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017520"/>
            <a:ext cx="54864" cy="160020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Pramp / Interviewing.io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83480" y="349300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Human mock interviews — great quality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83480" y="373989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High scheduling friction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83480" y="398678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connection to your practice history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83480" y="423367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personalised question targeting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— PatternSense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system that connects thinking → diagnosis → practice → interview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2A2A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61872"/>
            <a:ext cx="1993392" cy="16916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1426464"/>
            <a:ext cx="658368" cy="658368"/>
          </a:xfrm>
          <a:prstGeom prst="ellipse">
            <a:avLst/>
          </a:prstGeom>
          <a:solidFill>
            <a:srgbClr val="7F77DD">
              <a:alpha val="30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4264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176272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Process Analyser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49631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why you blanked — labels your exact mistake type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0592" y="1261872"/>
            <a:ext cx="1993392" cy="16916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1426464"/>
            <a:ext cx="658368" cy="658368"/>
          </a:xfrm>
          <a:prstGeom prst="ellipse">
            <a:avLst/>
          </a:prstGeom>
          <a:solidFill>
            <a:srgbClr val="1D9E75">
              <a:alpha val="30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4264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42032" y="2176272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Hint System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42032" y="249631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levels — nudge → pattern → approach → pseudocode → solution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1261872"/>
            <a:ext cx="1993392" cy="16916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85232" y="1426464"/>
            <a:ext cx="658368" cy="658368"/>
          </a:xfrm>
          <a:prstGeom prst="ellipse">
            <a:avLst/>
          </a:prstGeom>
          <a:solidFill>
            <a:srgbClr val="EF9F27">
              <a:alpha val="30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85232" y="14264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🎬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18304" y="2176272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Visualiser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18304" y="249631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animated step-by-step with complexity comparison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03136" y="1261872"/>
            <a:ext cx="1993392" cy="16916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61504" y="1426464"/>
            <a:ext cx="658368" cy="658368"/>
          </a:xfrm>
          <a:prstGeom prst="ellipse">
            <a:avLst/>
          </a:prstGeom>
          <a:solidFill>
            <a:srgbClr val="D85A30">
              <a:alpha val="30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61504" y="14264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94576" y="2176272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Question Bank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94576" y="249631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questions tagged by company, role &amp; salary band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136392"/>
            <a:ext cx="1993392" cy="16916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32688" y="3300984"/>
            <a:ext cx="658368" cy="658368"/>
          </a:xfrm>
          <a:prstGeom prst="ellipse">
            <a:avLst/>
          </a:prstGeom>
          <a:solidFill>
            <a:srgbClr val="7F77DD">
              <a:alpha val="30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33009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65760" y="4050792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 Dashboard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37083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 fingerprint radar + spaced repetition engine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50592" y="3136392"/>
            <a:ext cx="1993392" cy="16916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08960" y="3300984"/>
            <a:ext cx="658368" cy="658368"/>
          </a:xfrm>
          <a:prstGeom prst="ellipse">
            <a:avLst/>
          </a:prstGeom>
          <a:solidFill>
            <a:srgbClr val="1D9E75">
              <a:alpha val="30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33009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542032" y="4050792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Mock Interviewer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542032" y="437083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interview sim with scorecard and session replay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26864" y="3136392"/>
            <a:ext cx="1993392" cy="16916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285232" y="3300984"/>
            <a:ext cx="658368" cy="658368"/>
          </a:xfrm>
          <a:prstGeom prst="ellipse">
            <a:avLst/>
          </a:prstGeom>
          <a:solidFill>
            <a:srgbClr val="EF9F27">
              <a:alpha val="30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85232" y="33009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718304" y="4050792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Roadmap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18304" y="437083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Day-by-day plan built around your specific gaps, not generic lists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803136" y="3136392"/>
            <a:ext cx="1993392" cy="16916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461504" y="3300984"/>
            <a:ext cx="658368" cy="658368"/>
          </a:xfrm>
          <a:prstGeom prst="ellipse">
            <a:avLst/>
          </a:prstGeom>
          <a:solidFill>
            <a:srgbClr val="D85A30">
              <a:alpha val="30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61504" y="33009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⚔️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894576" y="4050792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 Battles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94576" y="437083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friends, compare approaches, AI picks winner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 — all free tier tools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2A2A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61872"/>
            <a:ext cx="1965960" cy="34747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61872"/>
            <a:ext cx="1965960" cy="475488"/>
          </a:xfrm>
          <a:prstGeom prst="rect">
            <a:avLst/>
          </a:prstGeom>
          <a:solidFill>
            <a:srgbClr val="7F77DD">
              <a:alpha val="40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6187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56232"/>
            <a:ext cx="109728" cy="109728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196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109728" cy="109728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951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07208"/>
            <a:ext cx="109728" cy="109728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70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82696"/>
            <a:ext cx="109728" cy="109728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58184"/>
            <a:ext cx="109728" cy="109728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216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Monaco Editor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233672"/>
            <a:ext cx="109728" cy="109728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1970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D3.js / Konva.js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68880" y="1261872"/>
            <a:ext cx="1965960" cy="34747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68880" y="1261872"/>
            <a:ext cx="1965960" cy="475488"/>
          </a:xfrm>
          <a:prstGeom prst="rect">
            <a:avLst/>
          </a:prstGeom>
          <a:solidFill>
            <a:srgbClr val="1D9E75">
              <a:alpha val="40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0" y="126187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606040" y="1856232"/>
            <a:ext cx="109728" cy="10972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88920" y="18196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06040" y="2331720"/>
            <a:ext cx="109728" cy="10972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88920" y="22951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06040" y="2807208"/>
            <a:ext cx="109728" cy="10972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88920" y="2770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06040" y="3282696"/>
            <a:ext cx="109728" cy="10972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88920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606040" y="3758184"/>
            <a:ext cx="109728" cy="10972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88920" y="37216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Middleware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17720" y="1261872"/>
            <a:ext cx="1965960" cy="34747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17720" y="1261872"/>
            <a:ext cx="1965960" cy="475488"/>
          </a:xfrm>
          <a:prstGeom prst="rect">
            <a:avLst/>
          </a:prstGeom>
          <a:solidFill>
            <a:srgbClr val="EF9F27">
              <a:alpha val="40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126187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754880" y="1856232"/>
            <a:ext cx="109728" cy="109728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18196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(Free)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2331720"/>
            <a:ext cx="109728" cy="109728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22951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Analysis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2807208"/>
            <a:ext cx="109728" cy="109728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2770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 Generation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54880" y="3282696"/>
            <a:ext cx="109728" cy="109728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Generator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54880" y="3758184"/>
            <a:ext cx="109728" cy="109728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37216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Simulator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766560" y="1261872"/>
            <a:ext cx="1965960" cy="34747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766560" y="1261872"/>
            <a:ext cx="1965960" cy="475488"/>
          </a:xfrm>
          <a:prstGeom prst="rect">
            <a:avLst/>
          </a:prstGeom>
          <a:solidFill>
            <a:srgbClr val="D85A30">
              <a:alpha val="40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66560" y="126187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903720" y="1856232"/>
            <a:ext cx="109728" cy="10972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86600" y="18196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(Frontend)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903720" y="2331720"/>
            <a:ext cx="109728" cy="10972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86600" y="22951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(Backend)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903720" y="2807208"/>
            <a:ext cx="109728" cy="10972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86600" y="2770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903720" y="3282696"/>
            <a:ext cx="109728" cy="10972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86600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Free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903720" y="3758184"/>
            <a:ext cx="109728" cy="10972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86600" y="37216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Free Tier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100% Free Tier — No paid APIs required. Gemini API (Google AI Studio) is free with generous daily limits.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Flowchart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949440" y="73152"/>
            <a:ext cx="2057400" cy="28346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0" y="9144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040880" y="347472"/>
            <a:ext cx="457200" cy="219456"/>
          </a:xfrm>
          <a:prstGeom prst="ellipse">
            <a:avLst/>
          </a:prstGeom>
          <a:solidFill>
            <a:srgbClr val="1D9E75">
              <a:alpha val="70000"/>
            </a:srgbClr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52944" y="36576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End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040880" y="694944"/>
            <a:ext cx="457200" cy="219456"/>
          </a:xfrm>
          <a:prstGeom prst="rect">
            <a:avLst/>
          </a:prstGeom>
          <a:solidFill>
            <a:srgbClr val="7F77DD">
              <a:alpha val="70000"/>
            </a:srgbClr>
          </a:solidFill>
          <a:ln w="19050">
            <a:solidFill>
              <a:srgbClr val="7F77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52944" y="71323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040880" y="1042416"/>
            <a:ext cx="457200" cy="219456"/>
          </a:xfrm>
          <a:prstGeom prst="diamond">
            <a:avLst/>
          </a:prstGeom>
          <a:solidFill>
            <a:srgbClr val="EF9F27">
              <a:alpha val="70000"/>
            </a:srgbClr>
          </a:solidFill>
          <a:ln w="19050">
            <a:solidFill>
              <a:srgbClr val="EF9F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52944" y="106070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040880" y="1389888"/>
            <a:ext cx="457200" cy="219456"/>
          </a:xfrm>
          <a:prstGeom prst="parallelogram">
            <a:avLst/>
          </a:prstGeom>
          <a:solidFill>
            <a:srgbClr val="D85A30">
              <a:alpha val="70000"/>
            </a:srgbClr>
          </a:solidFill>
          <a:ln w="19050">
            <a:solidFill>
              <a:srgbClr val="D85A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52944" y="140817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Output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040880" y="1737360"/>
            <a:ext cx="457200" cy="219456"/>
          </a:xfrm>
          <a:prstGeom prst="trapezoid">
            <a:avLst/>
          </a:prstGeom>
          <a:solidFill>
            <a:srgbClr val="1D9E75">
              <a:alpha val="70000"/>
            </a:srgbClr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52944" y="175564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Input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040880" y="2084832"/>
            <a:ext cx="457200" cy="219456"/>
          </a:xfrm>
          <a:prstGeom prst="rect">
            <a:avLst/>
          </a:prstGeom>
          <a:solidFill>
            <a:srgbClr val="7F77DD">
              <a:alpha val="70000"/>
            </a:srgbClr>
          </a:solidFill>
          <a:ln w="19050">
            <a:solidFill>
              <a:srgbClr val="7F77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04888" y="2084832"/>
            <a:ext cx="0" cy="219456"/>
          </a:xfrm>
          <a:prstGeom prst="line">
            <a:avLst/>
          </a:prstGeom>
          <a:noFill/>
          <a:ln w="12700">
            <a:solidFill>
              <a:srgbClr val="7F77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34072" y="2084832"/>
            <a:ext cx="0" cy="219456"/>
          </a:xfrm>
          <a:prstGeom prst="line">
            <a:avLst/>
          </a:prstGeom>
          <a:noFill/>
          <a:ln w="12700">
            <a:solidFill>
              <a:srgbClr val="7F77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52944" y="210312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Predefined Process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040880" y="2468880"/>
            <a:ext cx="457200" cy="164592"/>
          </a:xfrm>
          <a:prstGeom prst="rect">
            <a:avLst/>
          </a:prstGeom>
          <a:solidFill>
            <a:srgbClr val="EF9F27">
              <a:alpha val="70000"/>
            </a:srgbClr>
          </a:solidFill>
          <a:ln w="19050">
            <a:solidFill>
              <a:srgbClr val="EF9F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2432304"/>
            <a:ext cx="457200" cy="91440"/>
          </a:xfrm>
          <a:prstGeom prst="ellipse">
            <a:avLst/>
          </a:prstGeom>
          <a:solidFill>
            <a:srgbClr val="EF9F27">
              <a:alpha val="80000"/>
            </a:srgbClr>
          </a:solidFill>
          <a:ln w="19050">
            <a:solidFill>
              <a:srgbClr val="EF9F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52944" y="245059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468880" y="429768"/>
            <a:ext cx="1828800" cy="420624"/>
          </a:xfrm>
          <a:prstGeom prst="ellipse">
            <a:avLst/>
          </a:prstGeom>
          <a:solidFill>
            <a:srgbClr val="7F77DD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468880" y="42976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850392"/>
            <a:ext cx="0" cy="256032"/>
          </a:xfrm>
          <a:prstGeom prst="line">
            <a:avLst/>
          </a:prstGeom>
          <a:noFill/>
          <a:ln w="22860">
            <a:solidFill>
              <a:srgbClr val="7F77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77440" y="1106424"/>
            <a:ext cx="2011680" cy="420624"/>
          </a:xfrm>
          <a:prstGeom prst="parallelogram">
            <a:avLst/>
          </a:prstGeom>
          <a:solidFill>
            <a:srgbClr val="1D9E75">
              <a:alpha val="60000"/>
            </a:srgbClr>
          </a:solidFill>
          <a:ln w="254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377440" y="110642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PatternSense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83280" y="1527048"/>
            <a:ext cx="0" cy="256032"/>
          </a:xfrm>
          <a:prstGeom prst="line">
            <a:avLst/>
          </a:prstGeom>
          <a:noFill/>
          <a:ln w="22860">
            <a:solidFill>
              <a:srgbClr val="1D9E7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40280" y="1783080"/>
            <a:ext cx="2286000" cy="658368"/>
          </a:xfrm>
          <a:prstGeom prst="diamond">
            <a:avLst/>
          </a:prstGeom>
          <a:solidFill>
            <a:srgbClr val="EF9F27">
              <a:alpha val="70000"/>
            </a:srgbClr>
          </a:solidFill>
          <a:ln w="31750">
            <a:solidFill>
              <a:srgbClr val="EF9F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240280" y="178308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User?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383280" y="2441448"/>
            <a:ext cx="0" cy="256032"/>
          </a:xfrm>
          <a:prstGeom prst="line">
            <a:avLst/>
          </a:prstGeom>
          <a:noFill/>
          <a:ln w="22860">
            <a:solidFill>
              <a:srgbClr val="EF9F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56432" y="245973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526280" y="2112264"/>
            <a:ext cx="137160" cy="0"/>
          </a:xfrm>
          <a:prstGeom prst="line">
            <a:avLst/>
          </a:prstGeom>
          <a:noFill/>
          <a:ln w="22860">
            <a:solidFill>
              <a:srgbClr val="D85A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62856" y="1929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846320" y="1901952"/>
            <a:ext cx="1645920" cy="420624"/>
          </a:xfrm>
          <a:prstGeom prst="trapezoid">
            <a:avLst/>
          </a:prstGeom>
          <a:solidFill>
            <a:srgbClr val="D85A30">
              <a:alpha val="60000"/>
            </a:srgbClr>
          </a:solidFill>
          <a:ln w="25400">
            <a:solidFill>
              <a:srgbClr val="D85A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46320" y="190195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Account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0" y="2322576"/>
            <a:ext cx="0" cy="585216"/>
          </a:xfrm>
          <a:prstGeom prst="line">
            <a:avLst/>
          </a:prstGeom>
          <a:noFill/>
          <a:ln w="22860">
            <a:solidFill>
              <a:srgbClr val="D85A3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89120" y="2907792"/>
            <a:ext cx="1280160" cy="0"/>
          </a:xfrm>
          <a:prstGeom prst="line">
            <a:avLst/>
          </a:prstGeom>
          <a:noFill/>
          <a:ln w="22860">
            <a:solidFill>
              <a:srgbClr val="D85A3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77440" y="2697480"/>
            <a:ext cx="2011680" cy="420624"/>
          </a:xfrm>
          <a:prstGeom prst="rect">
            <a:avLst/>
          </a:prstGeom>
          <a:solidFill>
            <a:srgbClr val="7F77DD">
              <a:alpha val="60000"/>
            </a:srgbClr>
          </a:solidFill>
          <a:ln w="25400">
            <a:solidFill>
              <a:srgbClr val="7F77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487168" y="2697480"/>
            <a:ext cx="0" cy="420624"/>
          </a:xfrm>
          <a:prstGeom prst="line">
            <a:avLst/>
          </a:prstGeom>
          <a:noFill/>
          <a:ln w="19050">
            <a:solidFill>
              <a:srgbClr val="7F77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79392" y="2697480"/>
            <a:ext cx="0" cy="420624"/>
          </a:xfrm>
          <a:prstGeom prst="line">
            <a:avLst/>
          </a:prstGeom>
          <a:noFill/>
          <a:ln w="19050">
            <a:solidFill>
              <a:srgbClr val="7F77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14600" y="269748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Authenticate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(Firebase Auth)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383280" y="3118104"/>
            <a:ext cx="0" cy="256032"/>
          </a:xfrm>
          <a:prstGeom prst="line">
            <a:avLst/>
          </a:prstGeom>
          <a:noFill/>
          <a:ln w="22860">
            <a:solidFill>
              <a:srgbClr val="7F77D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377440" y="3374136"/>
            <a:ext cx="2011680" cy="420624"/>
          </a:xfrm>
          <a:prstGeom prst="rect">
            <a:avLst/>
          </a:prstGeom>
          <a:solidFill>
            <a:srgbClr val="1D9E75">
              <a:alpha val="65000"/>
            </a:srgbClr>
          </a:solidFill>
          <a:ln w="254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377440" y="337413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Dashboard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383280" y="3794760"/>
            <a:ext cx="0" cy="256032"/>
          </a:xfrm>
          <a:prstGeom prst="line">
            <a:avLst/>
          </a:prstGeom>
          <a:noFill/>
          <a:ln w="22860">
            <a:solidFill>
              <a:srgbClr val="1D9E7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40280" y="4050792"/>
            <a:ext cx="2286000" cy="658368"/>
          </a:xfrm>
          <a:prstGeom prst="diamond">
            <a:avLst/>
          </a:prstGeom>
          <a:solidFill>
            <a:srgbClr val="7F77DD">
              <a:alpha val="70000"/>
            </a:srgbClr>
          </a:solidFill>
          <a:ln w="31750">
            <a:solidFill>
              <a:srgbClr val="7F77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240280" y="405079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Feature?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709928" y="41970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289304" y="4178808"/>
            <a:ext cx="402336" cy="402336"/>
          </a:xfrm>
          <a:prstGeom prst="ellipse">
            <a:avLst/>
          </a:prstGeom>
          <a:solidFill>
            <a:srgbClr val="1D9E7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89304" y="4178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383280" y="4709160"/>
            <a:ext cx="0" cy="256032"/>
          </a:xfrm>
          <a:prstGeom prst="line">
            <a:avLst/>
          </a:prstGeom>
          <a:noFill/>
          <a:ln w="22860">
            <a:solidFill>
              <a:srgbClr val="EF9F2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38144" y="47274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526280" y="4379976"/>
            <a:ext cx="548640" cy="0"/>
          </a:xfrm>
          <a:prstGeom prst="line">
            <a:avLst/>
          </a:prstGeom>
          <a:noFill/>
          <a:ln w="22860">
            <a:solidFill>
              <a:srgbClr val="D85A3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81144" y="41970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074920" y="4178808"/>
            <a:ext cx="402336" cy="402336"/>
          </a:xfrm>
          <a:prstGeom prst="ellipse">
            <a:avLst/>
          </a:prstGeom>
          <a:solidFill>
            <a:srgbClr val="D85A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74920" y="4178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377440" y="4965192"/>
            <a:ext cx="2011680" cy="420624"/>
          </a:xfrm>
          <a:prstGeom prst="rect">
            <a:avLst/>
          </a:prstGeom>
          <a:solidFill>
            <a:srgbClr val="EF9F27">
              <a:alpha val="65000"/>
            </a:srgbClr>
          </a:solidFill>
          <a:ln w="25400">
            <a:solidFill>
              <a:srgbClr val="EF9F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2377440" y="496519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Questions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 — Gemini API)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383280" y="5385816"/>
            <a:ext cx="0" cy="256032"/>
          </a:xfrm>
          <a:prstGeom prst="line">
            <a:avLst/>
          </a:prstGeom>
          <a:noFill/>
          <a:ln w="22860">
            <a:solidFill>
              <a:srgbClr val="EF9F2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240280" y="5641848"/>
            <a:ext cx="2286000" cy="658368"/>
          </a:xfrm>
          <a:prstGeom prst="diamond">
            <a:avLst/>
          </a:prstGeom>
          <a:solidFill>
            <a:srgbClr val="EF9F27">
              <a:alpha val="70000"/>
            </a:srgbClr>
          </a:solidFill>
          <a:ln w="31750">
            <a:solidFill>
              <a:srgbClr val="EF9F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2240280" y="564184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Mode?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383280" y="6300216"/>
            <a:ext cx="0" cy="256032"/>
          </a:xfrm>
          <a:prstGeom prst="line">
            <a:avLst/>
          </a:prstGeom>
          <a:noFill/>
          <a:ln w="22860">
            <a:solidFill>
              <a:srgbClr val="EF9F2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56432" y="631850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526280" y="5971032"/>
            <a:ext cx="731520" cy="0"/>
          </a:xfrm>
          <a:prstGeom prst="line">
            <a:avLst/>
          </a:prstGeom>
          <a:noFill/>
          <a:ln w="22860">
            <a:solidFill>
              <a:srgbClr val="8B8BA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62856" y="57881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5257800" y="5760720"/>
            <a:ext cx="1645920" cy="420624"/>
          </a:xfrm>
          <a:prstGeom prst="parallelogram">
            <a:avLst/>
          </a:prstGeom>
          <a:solidFill>
            <a:srgbClr val="D85A30">
              <a:alpha val="60000"/>
            </a:srgbClr>
          </a:solidFill>
          <a:ln w="25400">
            <a:solidFill>
              <a:srgbClr val="D85A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5257800" y="57607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080760" y="6181344"/>
            <a:ext cx="0" cy="585216"/>
          </a:xfrm>
          <a:prstGeom prst="line">
            <a:avLst/>
          </a:prstGeom>
          <a:noFill/>
          <a:ln w="22860">
            <a:solidFill>
              <a:srgbClr val="D85A3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389120" y="6766560"/>
            <a:ext cx="2514600" cy="0"/>
          </a:xfrm>
          <a:prstGeom prst="line">
            <a:avLst/>
          </a:prstGeom>
          <a:noFill/>
          <a:ln w="22860">
            <a:solidFill>
              <a:srgbClr val="D85A3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6556248"/>
            <a:ext cx="2011680" cy="420624"/>
          </a:xfrm>
          <a:prstGeom prst="rect">
            <a:avLst/>
          </a:prstGeom>
          <a:solidFill>
            <a:srgbClr val="1D9E75">
              <a:alpha val="60000"/>
            </a:srgbClr>
          </a:solidFill>
          <a:ln w="254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2487168" y="6556248"/>
            <a:ext cx="0" cy="420624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279392" y="6556248"/>
            <a:ext cx="0" cy="420624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514600" y="65562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Blind Spots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(MongoDB)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383280" y="6976872"/>
            <a:ext cx="0" cy="256032"/>
          </a:xfrm>
          <a:prstGeom prst="line">
            <a:avLst/>
          </a:prstGeom>
          <a:noFill/>
          <a:ln w="22860">
            <a:solidFill>
              <a:srgbClr val="1D9E7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377440" y="7232904"/>
            <a:ext cx="2011680" cy="420624"/>
          </a:xfrm>
          <a:prstGeom prst="parallelogram">
            <a:avLst/>
          </a:prstGeom>
          <a:solidFill>
            <a:srgbClr val="1D9E75">
              <a:alpha val="60000"/>
            </a:srgbClr>
          </a:solidFill>
          <a:ln w="254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2377440" y="723290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Questions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User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3383280" y="7653528"/>
            <a:ext cx="0" cy="256032"/>
          </a:xfrm>
          <a:prstGeom prst="line">
            <a:avLst/>
          </a:prstGeom>
          <a:noFill/>
          <a:ln w="22860">
            <a:solidFill>
              <a:srgbClr val="1D9E7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377440" y="7909560"/>
            <a:ext cx="2011680" cy="420624"/>
          </a:xfrm>
          <a:prstGeom prst="trapezoid">
            <a:avLst/>
          </a:prstGeom>
          <a:solidFill>
            <a:srgbClr val="7F77DD">
              <a:alpha val="60000"/>
            </a:srgbClr>
          </a:solidFill>
          <a:ln w="25400">
            <a:solidFill>
              <a:srgbClr val="7F77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2377440" y="790956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Solves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Answer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3383280" y="8330184"/>
            <a:ext cx="0" cy="256032"/>
          </a:xfrm>
          <a:prstGeom prst="line">
            <a:avLst/>
          </a:prstGeom>
          <a:noFill/>
          <a:ln w="22860">
            <a:solidFill>
              <a:srgbClr val="7F77DD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240280" y="8586216"/>
            <a:ext cx="2286000" cy="658368"/>
          </a:xfrm>
          <a:prstGeom prst="diamond">
            <a:avLst/>
          </a:prstGeom>
          <a:solidFill>
            <a:srgbClr val="EF9F27">
              <a:alpha val="70000"/>
            </a:srgbClr>
          </a:solidFill>
          <a:ln w="31750">
            <a:solidFill>
              <a:srgbClr val="EF9F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2240280" y="858621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Correct?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3383280" y="9244584"/>
            <a:ext cx="0" cy="256032"/>
          </a:xfrm>
          <a:prstGeom prst="line">
            <a:avLst/>
          </a:prstGeom>
          <a:noFill/>
          <a:ln w="22860">
            <a:solidFill>
              <a:srgbClr val="EF9F27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456432" y="92628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4526280" y="8915400"/>
            <a:ext cx="731520" cy="0"/>
          </a:xfrm>
          <a:prstGeom prst="line">
            <a:avLst/>
          </a:prstGeom>
          <a:noFill/>
          <a:ln w="22860">
            <a:solidFill>
              <a:srgbClr val="D85A3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562856" y="8732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5257800" y="8705088"/>
            <a:ext cx="1645920" cy="420624"/>
          </a:xfrm>
          <a:prstGeom prst="rect">
            <a:avLst/>
          </a:prstGeom>
          <a:solidFill>
            <a:srgbClr val="D85A30">
              <a:alpha val="65000"/>
            </a:srgbClr>
          </a:solidFill>
          <a:ln w="25400">
            <a:solidFill>
              <a:srgbClr val="D85A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5257800" y="870508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Tiered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 (1→5)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4389120" y="8119872"/>
            <a:ext cx="2514600" cy="0"/>
          </a:xfrm>
          <a:prstGeom prst="line">
            <a:avLst/>
          </a:prstGeom>
          <a:noFill/>
          <a:ln w="22860">
            <a:solidFill>
              <a:srgbClr val="D85A3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377440" y="9500616"/>
            <a:ext cx="2011680" cy="420624"/>
          </a:xfrm>
          <a:prstGeom prst="rect">
            <a:avLst/>
          </a:prstGeom>
          <a:solidFill>
            <a:srgbClr val="1D9E75">
              <a:alpha val="60000"/>
            </a:srgbClr>
          </a:solidFill>
          <a:ln w="254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2487168" y="9500616"/>
            <a:ext cx="0" cy="420624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279392" y="9500616"/>
            <a:ext cx="0" cy="420624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514600" y="950061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Blind Spot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(MongoDB)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383280" y="9921240"/>
            <a:ext cx="0" cy="256032"/>
          </a:xfrm>
          <a:prstGeom prst="line">
            <a:avLst/>
          </a:prstGeom>
          <a:noFill/>
          <a:ln w="22860">
            <a:solidFill>
              <a:srgbClr val="1D9E7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377440" y="10177272"/>
            <a:ext cx="2011680" cy="420624"/>
          </a:xfrm>
          <a:prstGeom prst="rect">
            <a:avLst/>
          </a:prstGeom>
          <a:solidFill>
            <a:srgbClr val="7F77DD">
              <a:alpha val="65000"/>
            </a:srgbClr>
          </a:solidFill>
          <a:ln w="25400">
            <a:solidFill>
              <a:srgbClr val="7F77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6" name="Text 94"/>
          <p:cNvSpPr/>
          <p:nvPr/>
        </p:nvSpPr>
        <p:spPr>
          <a:xfrm>
            <a:off x="2377440" y="101772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Spaced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 Review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3383280" y="10597896"/>
            <a:ext cx="0" cy="256032"/>
          </a:xfrm>
          <a:prstGeom prst="line">
            <a:avLst/>
          </a:prstGeom>
          <a:noFill/>
          <a:ln w="22860">
            <a:solidFill>
              <a:srgbClr val="7F77D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377440" y="10853928"/>
            <a:ext cx="2011680" cy="420624"/>
          </a:xfrm>
          <a:prstGeom prst="rect">
            <a:avLst/>
          </a:prstGeom>
          <a:solidFill>
            <a:srgbClr val="EF9F27">
              <a:alpha val="60000"/>
            </a:srgbClr>
          </a:solidFill>
          <a:ln w="25400">
            <a:solidFill>
              <a:srgbClr val="EF9F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2487168" y="10853928"/>
            <a:ext cx="0" cy="420624"/>
          </a:xfrm>
          <a:prstGeom prst="line">
            <a:avLst/>
          </a:prstGeom>
          <a:noFill/>
          <a:ln w="19050">
            <a:solidFill>
              <a:srgbClr val="EF9F27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279392" y="10853928"/>
            <a:ext cx="0" cy="420624"/>
          </a:xfrm>
          <a:prstGeom prst="line">
            <a:avLst/>
          </a:prstGeom>
          <a:noFill/>
          <a:ln w="19050">
            <a:solidFill>
              <a:srgbClr val="EF9F27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514600" y="1085392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Re-Optimise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(AI)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383280" y="11274552"/>
            <a:ext cx="0" cy="256032"/>
          </a:xfrm>
          <a:prstGeom prst="line">
            <a:avLst/>
          </a:prstGeom>
          <a:noFill/>
          <a:ln w="22860">
            <a:solidFill>
              <a:srgbClr val="EF9F27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240280" y="11530584"/>
            <a:ext cx="2286000" cy="658368"/>
          </a:xfrm>
          <a:prstGeom prst="diamond">
            <a:avLst/>
          </a:prstGeom>
          <a:solidFill>
            <a:srgbClr val="7F77DD">
              <a:alpha val="70000"/>
            </a:srgbClr>
          </a:solidFill>
          <a:ln w="31750">
            <a:solidFill>
              <a:srgbClr val="7F77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4" name="Text 102"/>
          <p:cNvSpPr/>
          <p:nvPr/>
        </p:nvSpPr>
        <p:spPr>
          <a:xfrm>
            <a:off x="2240280" y="1153058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Session?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3383280" y="12188952"/>
            <a:ext cx="0" cy="256032"/>
          </a:xfrm>
          <a:prstGeom prst="line">
            <a:avLst/>
          </a:prstGeom>
          <a:noFill/>
          <a:ln w="22860">
            <a:solidFill>
              <a:srgbClr val="7F77DD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456432" y="12207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1755648" y="116768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1335024" y="11658600"/>
            <a:ext cx="402336" cy="402336"/>
          </a:xfrm>
          <a:prstGeom prst="ellipse">
            <a:avLst/>
          </a:prstGeom>
          <a:solidFill>
            <a:srgbClr val="1D9E7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335024" y="11658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2468880" y="12490704"/>
            <a:ext cx="1828800" cy="420624"/>
          </a:xfrm>
          <a:prstGeom prst="ellipse">
            <a:avLst/>
          </a:prstGeom>
          <a:solidFill>
            <a:srgbClr val="D85A3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1" name="Text 109"/>
          <p:cNvSpPr/>
          <p:nvPr/>
        </p:nvSpPr>
        <p:spPr>
          <a:xfrm>
            <a:off x="2468880" y="1249070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>
            <a:off x="182880" y="38404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Analyse Branch: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Problem → Pattern Detection → Mistake Diagnosis → Hints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5029200" y="1463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Interview: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Interviewer → Scorecard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182880" y="116311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Loop back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Dashboard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architecture with AI integration and external services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2A2A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15568"/>
            <a:ext cx="8595360" cy="1024128"/>
          </a:xfrm>
          <a:prstGeom prst="rect">
            <a:avLst/>
          </a:prstGeom>
          <a:solidFill>
            <a:srgbClr val="7F77DD">
              <a:alpha val="10000"/>
            </a:srgbClr>
          </a:solidFill>
          <a:ln w="12700">
            <a:solidFill>
              <a:srgbClr val="7F77DD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 — React SPA (Vite)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2304288"/>
            <a:ext cx="8595360" cy="1024128"/>
          </a:xfrm>
          <a:prstGeom prst="rect">
            <a:avLst/>
          </a:prstGeom>
          <a:solidFill>
            <a:srgbClr val="1D9E75">
              <a:alpha val="10000"/>
            </a:srgbClr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3042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LAYER — Node.js + Express REST API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3493008"/>
            <a:ext cx="8595360" cy="1481328"/>
          </a:xfrm>
          <a:prstGeom prst="rect">
            <a:avLst/>
          </a:prstGeom>
          <a:solidFill>
            <a:srgbClr val="EF9F27">
              <a:alpha val="10000"/>
            </a:srgbClr>
          </a:solidFill>
          <a:ln w="12700">
            <a:solidFill>
              <a:srgbClr val="EF9F27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4930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EXTERNAL SERVICES LAYER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84048" y="1389888"/>
            <a:ext cx="1280160" cy="658368"/>
          </a:xfrm>
          <a:prstGeom prst="rect">
            <a:avLst/>
          </a:prstGeom>
          <a:solidFill>
            <a:srgbClr val="7F77DD">
              <a:alpha val="28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4081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Router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17373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801368" y="1389888"/>
            <a:ext cx="1280160" cy="658368"/>
          </a:xfrm>
          <a:prstGeom prst="rect">
            <a:avLst/>
          </a:prstGeom>
          <a:solidFill>
            <a:srgbClr val="7F77DD">
              <a:alpha val="28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01368" y="14081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801368" y="17373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Stores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18688" y="1389888"/>
            <a:ext cx="1280160" cy="658368"/>
          </a:xfrm>
          <a:prstGeom prst="rect">
            <a:avLst/>
          </a:prstGeom>
          <a:solidFill>
            <a:srgbClr val="7F77DD">
              <a:alpha val="28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18688" y="14081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18688" y="17373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D3.js · Konva.js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636008" y="1389888"/>
            <a:ext cx="1280160" cy="658368"/>
          </a:xfrm>
          <a:prstGeom prst="rect">
            <a:avLst/>
          </a:prstGeom>
          <a:solidFill>
            <a:srgbClr val="7F77DD">
              <a:alpha val="28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36008" y="14081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Graphs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36008" y="17373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053328" y="1389888"/>
            <a:ext cx="1280160" cy="658368"/>
          </a:xfrm>
          <a:prstGeom prst="rect">
            <a:avLst/>
          </a:prstGeom>
          <a:solidFill>
            <a:srgbClr val="7F77DD">
              <a:alpha val="28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53328" y="14081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053328" y="17373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Monaco Editor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470648" y="1389888"/>
            <a:ext cx="1280160" cy="658368"/>
          </a:xfrm>
          <a:prstGeom prst="rect">
            <a:avLst/>
          </a:prstGeom>
          <a:solidFill>
            <a:srgbClr val="7F77DD">
              <a:alpha val="28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70648" y="14081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470648" y="17373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SDK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4048" y="2578608"/>
            <a:ext cx="1280160" cy="658368"/>
          </a:xfrm>
          <a:prstGeom prst="rect">
            <a:avLst/>
          </a:prstGeom>
          <a:solidFill>
            <a:srgbClr val="1D9E75">
              <a:alpha val="28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259689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84048" y="29260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Verify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801368" y="2578608"/>
            <a:ext cx="1280160" cy="658368"/>
          </a:xfrm>
          <a:prstGeom prst="rect">
            <a:avLst/>
          </a:prstGeom>
          <a:solidFill>
            <a:srgbClr val="1D9E75">
              <a:alpha val="28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01368" y="259689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801368" y="29260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/api/analyse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218688" y="2578608"/>
            <a:ext cx="1280160" cy="658368"/>
          </a:xfrm>
          <a:prstGeom prst="rect">
            <a:avLst/>
          </a:prstGeom>
          <a:solidFill>
            <a:srgbClr val="1D9E75">
              <a:alpha val="28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18688" y="259689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218688" y="29260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/api/generate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636008" y="2578608"/>
            <a:ext cx="1280160" cy="658368"/>
          </a:xfrm>
          <a:prstGeom prst="rect">
            <a:avLst/>
          </a:prstGeom>
          <a:solidFill>
            <a:srgbClr val="1D9E75">
              <a:alpha val="28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36008" y="259689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636008" y="29260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/api/interview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053328" y="2578608"/>
            <a:ext cx="1280160" cy="658368"/>
          </a:xfrm>
          <a:prstGeom prst="rect">
            <a:avLst/>
          </a:prstGeom>
          <a:solidFill>
            <a:srgbClr val="1D9E75">
              <a:alpha val="28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53328" y="259689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053328" y="29260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/api/roadmap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470648" y="2578608"/>
            <a:ext cx="1280160" cy="658368"/>
          </a:xfrm>
          <a:prstGeom prst="rect">
            <a:avLst/>
          </a:prstGeom>
          <a:solidFill>
            <a:srgbClr val="1D9E75">
              <a:alpha val="28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70648" y="259689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470648" y="29260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Prompts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024128" y="2048256"/>
            <a:ext cx="0" cy="256032"/>
          </a:xfrm>
          <a:prstGeom prst="line">
            <a:avLst/>
          </a:prstGeom>
          <a:noFill/>
          <a:ln w="12700">
            <a:solidFill>
              <a:srgbClr val="7F77D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441448" y="2048256"/>
            <a:ext cx="0" cy="256032"/>
          </a:xfrm>
          <a:prstGeom prst="line">
            <a:avLst/>
          </a:prstGeom>
          <a:noFill/>
          <a:ln w="12700">
            <a:solidFill>
              <a:srgbClr val="7F77D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58768" y="2048256"/>
            <a:ext cx="0" cy="256032"/>
          </a:xfrm>
          <a:prstGeom prst="line">
            <a:avLst/>
          </a:prstGeom>
          <a:noFill/>
          <a:ln w="12700">
            <a:solidFill>
              <a:srgbClr val="7F77D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276088" y="2048256"/>
            <a:ext cx="0" cy="256032"/>
          </a:xfrm>
          <a:prstGeom prst="line">
            <a:avLst/>
          </a:prstGeom>
          <a:noFill/>
          <a:ln w="12700">
            <a:solidFill>
              <a:srgbClr val="7F77D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93408" y="2048256"/>
            <a:ext cx="0" cy="256032"/>
          </a:xfrm>
          <a:prstGeom prst="line">
            <a:avLst/>
          </a:prstGeom>
          <a:noFill/>
          <a:ln w="12700">
            <a:solidFill>
              <a:srgbClr val="7F77D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110728" y="2048256"/>
            <a:ext cx="0" cy="256032"/>
          </a:xfrm>
          <a:prstGeom prst="line">
            <a:avLst/>
          </a:prstGeom>
          <a:noFill/>
          <a:ln w="12700">
            <a:solidFill>
              <a:srgbClr val="7F77D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84048" y="3767328"/>
            <a:ext cx="1508760" cy="914400"/>
          </a:xfrm>
          <a:prstGeom prst="rect">
            <a:avLst/>
          </a:prstGeom>
          <a:solidFill>
            <a:srgbClr val="EF9F27">
              <a:alpha val="28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4048" y="37856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84048" y="4078224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Problems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· Notes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075688" y="3767328"/>
            <a:ext cx="1508760" cy="914400"/>
          </a:xfrm>
          <a:prstGeom prst="rect">
            <a:avLst/>
          </a:prstGeom>
          <a:solidFill>
            <a:srgbClr val="EF9F27">
              <a:alpha val="28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075688" y="37856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075688" y="4078224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SSO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767328" y="3767328"/>
            <a:ext cx="1508760" cy="1078992"/>
          </a:xfrm>
          <a:prstGeom prst="rect">
            <a:avLst/>
          </a:prstGeom>
          <a:solidFill>
            <a:srgbClr val="D85A30">
              <a:alpha val="28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67328" y="37856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767328" y="4078224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Analysis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 · Questions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· Interview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5458968" y="3767328"/>
            <a:ext cx="1508760" cy="914400"/>
          </a:xfrm>
          <a:prstGeom prst="rect">
            <a:avLst/>
          </a:prstGeom>
          <a:solidFill>
            <a:srgbClr val="EF9F27">
              <a:alpha val="28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58968" y="37856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458968" y="4078224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Hosting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CDN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7150608" y="3767328"/>
            <a:ext cx="1508760" cy="914400"/>
          </a:xfrm>
          <a:prstGeom prst="rect">
            <a:avLst/>
          </a:prstGeom>
          <a:solidFill>
            <a:srgbClr val="EF9F27">
              <a:alpha val="28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150608" y="37856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150608" y="4078224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Hosting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1138428" y="3236976"/>
            <a:ext cx="0" cy="530352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830068" y="3236976"/>
            <a:ext cx="0" cy="530352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521708" y="3236976"/>
            <a:ext cx="0" cy="530352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213348" y="3236976"/>
            <a:ext cx="0" cy="530352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904988" y="3236976"/>
            <a:ext cx="0" cy="530352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840480" y="21031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REST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3840480" y="32918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+ API calls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457200"/>
            <a:ext cx="4114800" cy="4114800"/>
          </a:xfrm>
          <a:prstGeom prst="ellipse">
            <a:avLst/>
          </a:prstGeom>
          <a:solidFill>
            <a:srgbClr val="7F77DD">
              <a:alpha val="15000"/>
            </a:srgbClr>
          </a:solidFill>
          <a:ln w="12700">
            <a:solidFill>
              <a:srgbClr val="7F77D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1D9E75">
              <a:alpha val="12000"/>
            </a:srgbClr>
          </a:solidFill>
          <a:ln w="12700">
            <a:solidFill>
              <a:srgbClr val="1D9E7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PatternSense achieves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2A2A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61872"/>
            <a:ext cx="8412480" cy="74980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35331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2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PatternSense is the first unified DSA learning system that treats interview preparation as a cognitive problem, not a content problem.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65760" y="2176272"/>
            <a:ext cx="2697480" cy="248716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76272"/>
            <a:ext cx="54864" cy="2487168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11" name="Shape 9"/>
          <p:cNvSpPr/>
          <p:nvPr/>
        </p:nvSpPr>
        <p:spPr>
          <a:xfrm>
            <a:off x="1344168" y="2286000"/>
            <a:ext cx="658368" cy="658368"/>
          </a:xfrm>
          <a:prstGeom prst="ellipse">
            <a:avLst/>
          </a:prstGeom>
          <a:solidFill>
            <a:srgbClr val="7F77DD">
              <a:alpha val="35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44168" y="22860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" y="30175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a Real Gap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33649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tool today connects thinking → mistake → fix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" y="3749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Pattern blindness is the #1 reason students fail despite solving 200+ problems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0352" y="41330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PatternSense is the only system that diagnoses the root cause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27832" y="2176272"/>
            <a:ext cx="2697480" cy="248716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27832" y="2176272"/>
            <a:ext cx="54864" cy="248716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9" name="Shape 17"/>
          <p:cNvSpPr/>
          <p:nvPr/>
        </p:nvSpPr>
        <p:spPr>
          <a:xfrm>
            <a:off x="4206240" y="2286000"/>
            <a:ext cx="658368" cy="658368"/>
          </a:xfrm>
          <a:prstGeom prst="ellipse">
            <a:avLst/>
          </a:prstGeom>
          <a:solidFill>
            <a:srgbClr val="1D9E75">
              <a:alpha val="35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22860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392424" y="30175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Technically Substantial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92424" y="33649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Full-stack: React + Node.js + MongoDB + AI API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92424" y="3749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Algorithm visualiser, AI interview simulator, spaced repetition engine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92424" y="41330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100% free-tier tools — deployable by anyone, immediately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9904" y="2176272"/>
            <a:ext cx="2697480" cy="248716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9904" y="2176272"/>
            <a:ext cx="54864" cy="2487168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27" name="Shape 25"/>
          <p:cNvSpPr/>
          <p:nvPr/>
        </p:nvSpPr>
        <p:spPr>
          <a:xfrm>
            <a:off x="7068312" y="2286000"/>
            <a:ext cx="658368" cy="658368"/>
          </a:xfrm>
          <a:prstGeom prst="ellipse">
            <a:avLst/>
          </a:prstGeom>
          <a:solidFill>
            <a:srgbClr val="EF9F27">
              <a:alpha val="35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68312" y="22860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254496" y="30175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Impact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54496" y="33649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Solves a problem every developer interviewer understands personally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54496" y="3749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Live shareable features create organic word-of-mouth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54496" y="41330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phase adds a new skill: AI, D3, real-time chat, auth, DevOps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solidFill>
            <a:srgbClr val="7F77DD">
              <a:alpha val="20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 developer who faced this problem — for every developer who still does.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PatternSense</dc:title>
  <dc:subject>PptxGenJS Presentation</dc:subject>
  <dc:creator>PptxGenJS</dc:creator>
  <cp:lastModifiedBy>PptxGenJS</cp:lastModifiedBy>
  <cp:revision>1</cp:revision>
  <dcterms:created xsi:type="dcterms:W3CDTF">2026-05-30T03:16:45Z</dcterms:created>
  <dcterms:modified xsi:type="dcterms:W3CDTF">2026-05-30T03:16:45Z</dcterms:modified>
</cp:coreProperties>
</file>